
<file path=[Content_Types].xml><?xml version="1.0" encoding="utf-8"?>
<Types xmlns="http://schemas.openxmlformats.org/package/2006/content-types">
  <Default Extension="fntdata" ContentType="application/x-fontdata"/>
  <Default Extension="image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Anton" pitchFamily="2" charset="0"/>
      <p:regular r:id="rId11"/>
    </p:embeddedFont>
    <p:embeddedFont>
      <p:font typeface="Berlin Sans FB Demi" panose="020E0802020502020306" pitchFamily="34" charset="0"/>
      <p:bold r:id="rId12"/>
    </p:embeddedFont>
    <p:embeddedFont>
      <p:font typeface="Franklin Gothic Book" panose="020B0503020102020204" pitchFamily="34" charset="0"/>
      <p:regular r:id="rId13"/>
      <p:italic r:id="rId14"/>
    </p:embeddedFont>
    <p:embeddedFont>
      <p:font typeface="Special Elite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5593" autoAdjust="0"/>
  </p:normalViewPr>
  <p:slideViewPr>
    <p:cSldViewPr snapToGrid="0" snapToObjects="1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8871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diagram from the outside in: capture, detect, sanitize, validate. Only what survives all four reaches the agent, and any failure closes the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Detection runs locally and layers three kinds of signal: patterns, page structure, and optional OCR and AI context. Together they give defense in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three bars on the left from raw context to typed redaction to preserved meaning, then step down the conveyor on the right: typed placeholders, kept structure, non-recoverable values, and a privacy preview before any model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tree left to right: set up, one click to scan, then two branches: what the reviewer sees, and the guarantee that page text never leaves the local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four stages in order: demo, test scenarios, measures, deliverables. The numbered chevrons read left to right, then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22EF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8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22EF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image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hyperlink" Target="https://www.pippit.ai/templates/6-pictures-templates-filtered-with-white-background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6582" y="889000"/>
            <a:ext cx="7492813" cy="5319415"/>
          </a:xfrm>
          <a:prstGeom prst="rect">
            <a:avLst/>
          </a:prstGeom>
          <a:solidFill>
            <a:srgbClr val="22EFFC"/>
          </a:solidFill>
          <a:ln/>
        </p:spPr>
      </p:sp>
      <p:sp>
        <p:nvSpPr>
          <p:cNvPr id="3" name="Text 1"/>
          <p:cNvSpPr/>
          <p:nvPr/>
        </p:nvSpPr>
        <p:spPr>
          <a:xfrm>
            <a:off x="914377" y="1040130"/>
            <a:ext cx="7746806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00" kern="100" spc="84" dirty="0">
                <a:solidFill>
                  <a:srgbClr val="1E22B4"/>
                </a:solidFill>
                <a:latin typeface="Anton" pitchFamily="34" charset="0"/>
                <a:ea typeface="Anton" pitchFamily="34" charset="-122"/>
                <a:cs typeface="Anton" pitchFamily="34" charset="0"/>
              </a:rPr>
              <a:t>PRIVACYLENS · LOCAL PRIVACY FIREWALL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377" y="1462385"/>
            <a:ext cx="7137221" cy="337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7000" dirty="0">
                <a:solidFill>
                  <a:srgbClr val="1E22B4"/>
                </a:solidFill>
                <a:latin typeface="Anton" pitchFamily="34" charset="0"/>
                <a:ea typeface="Anton" pitchFamily="34" charset="-122"/>
                <a:cs typeface="Anton" pitchFamily="34" charset="0"/>
              </a:rPr>
              <a:t>PRIVACYLENS:</a:t>
            </a:r>
            <a:endParaRPr lang="en-US" sz="7000" dirty="0"/>
          </a:p>
          <a:p>
            <a:pPr marL="0" indent="0" algn="l">
              <a:lnSpc>
                <a:spcPct val="79000"/>
              </a:lnSpc>
              <a:buNone/>
            </a:pPr>
            <a:r>
              <a:rPr lang="en-US" sz="7000" dirty="0">
                <a:solidFill>
                  <a:srgbClr val="1E22B4"/>
                </a:solidFill>
                <a:latin typeface="Anton" pitchFamily="34" charset="0"/>
                <a:ea typeface="Anton" pitchFamily="34" charset="-122"/>
                <a:cs typeface="Anton" pitchFamily="34" charset="0"/>
              </a:rPr>
              <a:t>AI AGENTS WITHOUT</a:t>
            </a:r>
            <a:endParaRPr lang="en-US" sz="7000" dirty="0"/>
          </a:p>
          <a:p>
            <a:pPr marL="0" indent="0" algn="l">
              <a:lnSpc>
                <a:spcPct val="79000"/>
              </a:lnSpc>
              <a:buNone/>
            </a:pPr>
            <a:r>
              <a:rPr lang="en-US" sz="7000" dirty="0">
                <a:solidFill>
                  <a:srgbClr val="1E22B4"/>
                </a:solidFill>
                <a:latin typeface="Anton" pitchFamily="34" charset="0"/>
                <a:ea typeface="Anton" pitchFamily="34" charset="-122"/>
                <a:cs typeface="Anton" pitchFamily="34" charset="0"/>
              </a:rPr>
              <a:t>THE PRIVACY TRADEOFF</a:t>
            </a:r>
            <a:endParaRPr lang="en-US" sz="7000" dirty="0"/>
          </a:p>
        </p:txBody>
      </p:sp>
      <p:sp>
        <p:nvSpPr>
          <p:cNvPr id="5" name="Text 3"/>
          <p:cNvSpPr/>
          <p:nvPr/>
        </p:nvSpPr>
        <p:spPr>
          <a:xfrm>
            <a:off x="914377" y="4891385"/>
            <a:ext cx="7137221" cy="119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200" dirty="0">
                <a:solidFill>
                  <a:srgbClr val="1E22B4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A local privacy firewall that lets browser agents understand interfaces and act without exposing sensitive user information.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354330"/>
            <a:ext cx="4419489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00" kern="100" spc="84" dirty="0">
                <a:solidFill>
                  <a:srgbClr val="1E22B4"/>
                </a:solidFill>
                <a:latin typeface="Anton" pitchFamily="34" charset="0"/>
                <a:ea typeface="Anton" pitchFamily="34" charset="-122"/>
                <a:cs typeface="Anton" pitchFamily="34" charset="0"/>
              </a:rPr>
              <a:t>THE DEFAULT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189" y="845502"/>
            <a:ext cx="4825879" cy="1109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600" dirty="0">
                <a:solidFill>
                  <a:srgbClr val="1E22B4"/>
                </a:solidFill>
                <a:latin typeface="Anton" pitchFamily="34" charset="0"/>
                <a:ea typeface="Anton" pitchFamily="34" charset="-122"/>
                <a:cs typeface="Anton" pitchFamily="34" charset="0"/>
              </a:rPr>
              <a:t>AI AGENTS SEE TOO MUCH BY DEFAULT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457189" y="3378200"/>
            <a:ext cx="3428914" cy="76200"/>
          </a:xfrm>
          <a:prstGeom prst="roundRect">
            <a:avLst>
              <a:gd name="adj" fmla="val 42499"/>
            </a:avLst>
          </a:prstGeom>
          <a:solidFill>
            <a:srgbClr val="1E22B4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3708400"/>
            <a:ext cx="2920927" cy="2895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82908" y="5054600"/>
            <a:ext cx="2920927" cy="88900"/>
          </a:xfrm>
          <a:prstGeom prst="roundRect">
            <a:avLst>
              <a:gd name="adj" fmla="val 36428"/>
            </a:avLst>
          </a:prstGeom>
          <a:solidFill>
            <a:srgbClr val="1E22B4"/>
          </a:solidFill>
          <a:ln/>
        </p:spPr>
      </p:sp>
      <p:sp>
        <p:nvSpPr>
          <p:cNvPr id="7" name="Shape 4"/>
          <p:cNvSpPr/>
          <p:nvPr/>
        </p:nvSpPr>
        <p:spPr>
          <a:xfrm>
            <a:off x="8076998" y="406400"/>
            <a:ext cx="3809905" cy="3048000"/>
          </a:xfrm>
          <a:custGeom>
            <a:avLst/>
            <a:gdLst/>
            <a:ahLst/>
            <a:cxnLst/>
            <a:rect l="l" t="t" r="r" b="b"/>
            <a:pathLst>
              <a:path w="3809905" h="3048000">
                <a:moveTo>
                  <a:pt x="0" y="0"/>
                </a:moveTo>
                <a:lnTo>
                  <a:pt x="2920927" y="0"/>
                </a:lnTo>
                <a:arcTo wR="888977" hR="889000" stAng="16200000" swAng="5400000"/>
                <a:lnTo>
                  <a:pt x="3809905" y="3048000"/>
                </a:lnTo>
                <a:lnTo>
                  <a:pt x="888977" y="3048000"/>
                </a:lnTo>
                <a:arcTo wR="888977" hR="889000" stAng="5400000" swAng="5400000"/>
                <a:lnTo>
                  <a:pt x="0" y="0"/>
                </a:lnTo>
                <a:close/>
              </a:path>
            </a:pathLst>
          </a:custGeom>
          <a:solidFill>
            <a:srgbClr val="1E22B4"/>
          </a:solidFill>
          <a:ln/>
        </p:spPr>
      </p:sp>
      <p:sp>
        <p:nvSpPr>
          <p:cNvPr id="8" name="Shape 5"/>
          <p:cNvSpPr/>
          <p:nvPr/>
        </p:nvSpPr>
        <p:spPr>
          <a:xfrm>
            <a:off x="7975400" y="304800"/>
            <a:ext cx="3809905" cy="3048000"/>
          </a:xfrm>
          <a:custGeom>
            <a:avLst/>
            <a:gdLst/>
            <a:ahLst/>
            <a:cxnLst/>
            <a:rect l="l" t="t" r="r" b="b"/>
            <a:pathLst>
              <a:path w="3809905" h="3048000">
                <a:moveTo>
                  <a:pt x="0" y="0"/>
                </a:moveTo>
                <a:lnTo>
                  <a:pt x="2920927" y="0"/>
                </a:lnTo>
                <a:arcTo wR="888977" hR="889000" stAng="16200000" swAng="5400000"/>
                <a:lnTo>
                  <a:pt x="3809905" y="3048000"/>
                </a:lnTo>
                <a:lnTo>
                  <a:pt x="888977" y="3048000"/>
                </a:lnTo>
                <a:arcTo wR="888977" hR="889000" stAng="5400000" swAng="5400000"/>
                <a:lnTo>
                  <a:pt x="0" y="0"/>
                </a:lnTo>
                <a:close/>
              </a:path>
            </a:pathLst>
          </a:custGeom>
          <a:solidFill>
            <a:srgbClr val="22EFFC"/>
          </a:solidFill>
          <a:ln w="38099">
            <a:solidFill>
              <a:srgbClr val="1E22B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18292" y="701377"/>
            <a:ext cx="828158" cy="661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200" dirty="0">
                <a:solidFill>
                  <a:srgbClr val="1E22B4"/>
                </a:solidFill>
                <a:latin typeface="Anton" pitchFamily="34" charset="0"/>
                <a:ea typeface="Anton" pitchFamily="34" charset="-122"/>
                <a:cs typeface="Anton" pitchFamily="34" charset="0"/>
              </a:rPr>
              <a:t>1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9187228" y="673100"/>
            <a:ext cx="2255186" cy="2451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Webpages and screenshots can expose Aadhaar, PAN, passwords, OTPs, cards, API keys, medical records, and personal messages.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076998" y="3657600"/>
            <a:ext cx="3809905" cy="3048000"/>
          </a:xfrm>
          <a:custGeom>
            <a:avLst/>
            <a:gdLst/>
            <a:ahLst/>
            <a:cxnLst/>
            <a:rect l="l" t="t" r="r" b="b"/>
            <a:pathLst>
              <a:path w="3809905" h="3048000">
                <a:moveTo>
                  <a:pt x="888977" y="0"/>
                </a:moveTo>
                <a:lnTo>
                  <a:pt x="3809905" y="0"/>
                </a:lnTo>
                <a:lnTo>
                  <a:pt x="3809905" y="2159000"/>
                </a:lnTo>
                <a:arcTo wR="888977" hR="889000" stAng="0" swAng="5400000"/>
                <a:lnTo>
                  <a:pt x="0" y="3048000"/>
                </a:lnTo>
                <a:lnTo>
                  <a:pt x="0" y="889000"/>
                </a:lnTo>
                <a:arcTo wR="888977" hR="889000" stAng="10800000" swAng="5400000"/>
                <a:close/>
              </a:path>
            </a:pathLst>
          </a:custGeom>
          <a:solidFill>
            <a:srgbClr val="1E22B4"/>
          </a:solidFill>
          <a:ln/>
        </p:spPr>
      </p:sp>
      <p:sp>
        <p:nvSpPr>
          <p:cNvPr id="12" name="Shape 9"/>
          <p:cNvSpPr/>
          <p:nvPr/>
        </p:nvSpPr>
        <p:spPr>
          <a:xfrm>
            <a:off x="7975400" y="3556000"/>
            <a:ext cx="3809905" cy="3048000"/>
          </a:xfrm>
          <a:custGeom>
            <a:avLst/>
            <a:gdLst/>
            <a:ahLst/>
            <a:cxnLst/>
            <a:rect l="l" t="t" r="r" b="b"/>
            <a:pathLst>
              <a:path w="3809905" h="3048000">
                <a:moveTo>
                  <a:pt x="888977" y="0"/>
                </a:moveTo>
                <a:lnTo>
                  <a:pt x="3809905" y="0"/>
                </a:lnTo>
                <a:lnTo>
                  <a:pt x="3809905" y="2159000"/>
                </a:lnTo>
                <a:arcTo wR="888977" hR="889000" stAng="0" swAng="5400000"/>
                <a:lnTo>
                  <a:pt x="0" y="3048000"/>
                </a:lnTo>
                <a:lnTo>
                  <a:pt x="0" y="889000"/>
                </a:lnTo>
                <a:arcTo wR="888977" hR="889000" stAng="10800000" swAng="5400000"/>
                <a:close/>
              </a:path>
            </a:pathLst>
          </a:custGeom>
          <a:solidFill>
            <a:srgbClr val="22EFFC"/>
          </a:solidFill>
          <a:ln w="38099">
            <a:solidFill>
              <a:srgbClr val="1E22B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18292" y="3952577"/>
            <a:ext cx="936304" cy="661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200" dirty="0">
                <a:solidFill>
                  <a:srgbClr val="1E22B4"/>
                </a:solidFill>
                <a:latin typeface="Anton" pitchFamily="34" charset="0"/>
                <a:ea typeface="Anton" pitchFamily="34" charset="-122"/>
                <a:cs typeface="Anton" pitchFamily="34" charset="0"/>
              </a:rPr>
              <a:t>2</a:t>
            </a:r>
            <a:endParaRPr lang="en-US" sz="5200" dirty="0"/>
          </a:p>
        </p:txBody>
      </p:sp>
      <p:sp>
        <p:nvSpPr>
          <p:cNvPr id="14" name="Text 11"/>
          <p:cNvSpPr/>
          <p:nvPr/>
        </p:nvSpPr>
        <p:spPr>
          <a:xfrm>
            <a:off x="9187228" y="3924300"/>
            <a:ext cx="2255186" cy="21454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The challenge: preserve enough interface meaning for automation while keeping raw secrets outside external AI models.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4089298" y="1714500"/>
            <a:ext cx="3809905" cy="3810000"/>
          </a:xfrm>
          <a:prstGeom prst="ellipse">
            <a:avLst/>
          </a:prstGeom>
          <a:solidFill>
            <a:srgbClr val="1E22B4"/>
          </a:solidFill>
          <a:ln w="38099">
            <a:solidFill>
              <a:srgbClr val="22EFF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86183" y="2542877"/>
            <a:ext cx="936304" cy="661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200" dirty="0">
                <a:solidFill>
                  <a:srgbClr val="22EFFC"/>
                </a:solidFill>
                <a:latin typeface="Anton" pitchFamily="34" charset="0"/>
                <a:ea typeface="Anton" pitchFamily="34" charset="-122"/>
                <a:cs typeface="Anton" pitchFamily="34" charset="0"/>
              </a:rPr>
              <a:t>3</a:t>
            </a:r>
            <a:endParaRPr lang="en-US" sz="5200" dirty="0"/>
          </a:p>
        </p:txBody>
      </p:sp>
      <p:sp>
        <p:nvSpPr>
          <p:cNvPr id="17" name="Text 14"/>
          <p:cNvSpPr/>
          <p:nvPr/>
        </p:nvSpPr>
        <p:spPr>
          <a:xfrm>
            <a:off x="5555119" y="2514600"/>
            <a:ext cx="1747198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Core principle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5555119" y="3368675"/>
            <a:ext cx="1747198" cy="183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Compute what is sensitive locally; reason globally only on sanitized data.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81330"/>
            <a:ext cx="4013100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00" kern="100" spc="84" dirty="0">
                <a:solidFill>
                  <a:srgbClr val="1E22B4"/>
                </a:solidFill>
                <a:latin typeface="Anton" pitchFamily="34" charset="0"/>
                <a:ea typeface="Anton" pitchFamily="34" charset="-122"/>
                <a:cs typeface="Anton" pitchFamily="34" charset="0"/>
              </a:rPr>
              <a:t>THE LOCAL BOUNDARY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189" y="832148"/>
            <a:ext cx="3759106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1E22B4"/>
                </a:solidFill>
                <a:latin typeface="Anton" pitchFamily="34" charset="0"/>
                <a:ea typeface="Anton" pitchFamily="34" charset="-122"/>
                <a:cs typeface="Anton" pitchFamily="34" charset="0"/>
              </a:rPr>
              <a:t>PRIVACYLENS PUTS A LOCAL BOUNDARY AROUND THE AGENT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189" y="2454573"/>
            <a:ext cx="3759106" cy="69751"/>
          </a:xfrm>
          <a:prstGeom prst="roundRect">
            <a:avLst>
              <a:gd name="adj" fmla="val 49999"/>
            </a:avLst>
          </a:prstGeom>
          <a:solidFill>
            <a:srgbClr val="1E22B4"/>
          </a:solidFill>
          <a:ln/>
        </p:spPr>
      </p:sp>
      <p:sp>
        <p:nvSpPr>
          <p:cNvPr id="5" name="Shape 3"/>
          <p:cNvSpPr/>
          <p:nvPr/>
        </p:nvSpPr>
        <p:spPr>
          <a:xfrm>
            <a:off x="457189" y="4912420"/>
            <a:ext cx="3759106" cy="1488380"/>
          </a:xfrm>
          <a:prstGeom prst="rect">
            <a:avLst/>
          </a:prstGeom>
          <a:solidFill>
            <a:srgbClr val="1E22B4"/>
          </a:solidFill>
          <a:ln/>
        </p:spPr>
      </p:sp>
      <p:sp>
        <p:nvSpPr>
          <p:cNvPr id="6" name="Text 4"/>
          <p:cNvSpPr/>
          <p:nvPr/>
        </p:nvSpPr>
        <p:spPr>
          <a:xfrm>
            <a:off x="711182" y="5115620"/>
            <a:ext cx="3251119" cy="1081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Fail closed when detection, sanitization, or validation fails.</a:t>
            </a:r>
            <a:endParaRPr lang="en-US" sz="2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081" y="1488480"/>
            <a:ext cx="7111822" cy="388094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93673" y="2775727"/>
            <a:ext cx="1474638" cy="782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Local Privacy Boundary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593673" y="3631966"/>
            <a:ext cx="1474638" cy="349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Only sanitized context reaches the agent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282374" y="1791919"/>
            <a:ext cx="1695100" cy="260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Capture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5282374" y="2126621"/>
            <a:ext cx="1695100" cy="349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Gather raw inputs from sources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862301" y="2168848"/>
            <a:ext cx="1695101" cy="260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Detect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9862301" y="2503550"/>
            <a:ext cx="1695101" cy="349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Identify sensitive elements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90359" y="4089052"/>
            <a:ext cx="1695101" cy="260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Sanitize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5090359" y="4423754"/>
            <a:ext cx="1695101" cy="349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Remove or obfuscate secrets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9663174" y="4482353"/>
            <a:ext cx="1695101" cy="260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Validate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9663174" y="4817055"/>
            <a:ext cx="1695101" cy="174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Ensure policy compliance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423862"/>
            <a:ext cx="4444889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1E22B4"/>
                </a:solidFill>
                <a:latin typeface="Anton" pitchFamily="34" charset="0"/>
                <a:ea typeface="Anton" pitchFamily="34" charset="-122"/>
                <a:cs typeface="Anton" pitchFamily="34" charset="0"/>
              </a:rPr>
              <a:t>DETECTION COMBINES PATTERN, STRUCTURE, AND CONTEXT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07987" y="2362200"/>
            <a:ext cx="1523962" cy="76200"/>
          </a:xfrm>
          <a:prstGeom prst="roundRect">
            <a:avLst>
              <a:gd name="adj" fmla="val 42499"/>
            </a:avLst>
          </a:prstGeom>
          <a:solidFill>
            <a:srgbClr val="1E22B4"/>
          </a:solidFill>
          <a:ln/>
        </p:spPr>
      </p:sp>
      <p:sp>
        <p:nvSpPr>
          <p:cNvPr id="4" name="Shape 2"/>
          <p:cNvSpPr/>
          <p:nvPr/>
        </p:nvSpPr>
        <p:spPr>
          <a:xfrm>
            <a:off x="5968851" y="2413000"/>
            <a:ext cx="2285943" cy="2286000"/>
          </a:xfrm>
          <a:prstGeom prst="ellipse">
            <a:avLst/>
          </a:prstGeom>
          <a:solidFill>
            <a:srgbClr val="1E22B4">
              <a:alpha val="32000"/>
            </a:srgbClr>
          </a:solidFill>
          <a:ln w="50799">
            <a:solidFill>
              <a:srgbClr val="1E22B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73723" y="2032000"/>
            <a:ext cx="76198" cy="381000"/>
          </a:xfrm>
          <a:prstGeom prst="roundRect">
            <a:avLst>
              <a:gd name="adj" fmla="val 42500"/>
            </a:avLst>
          </a:prstGeom>
          <a:solidFill>
            <a:srgbClr val="1E22B4"/>
          </a:solidFill>
          <a:ln/>
        </p:spPr>
      </p:sp>
      <p:sp>
        <p:nvSpPr>
          <p:cNvPr id="6" name="Shape 4"/>
          <p:cNvSpPr/>
          <p:nvPr/>
        </p:nvSpPr>
        <p:spPr>
          <a:xfrm>
            <a:off x="7073723" y="4699000"/>
            <a:ext cx="76198" cy="317500"/>
          </a:xfrm>
          <a:prstGeom prst="roundRect">
            <a:avLst>
              <a:gd name="adj" fmla="val 42500"/>
            </a:avLst>
          </a:prstGeom>
          <a:solidFill>
            <a:srgbClr val="1E22B4"/>
          </a:solidFill>
          <a:ln/>
        </p:spPr>
      </p:sp>
      <p:sp>
        <p:nvSpPr>
          <p:cNvPr id="7" name="Shape 5"/>
          <p:cNvSpPr/>
          <p:nvPr/>
        </p:nvSpPr>
        <p:spPr>
          <a:xfrm>
            <a:off x="4698882" y="3517900"/>
            <a:ext cx="1269968" cy="76200"/>
          </a:xfrm>
          <a:prstGeom prst="roundRect">
            <a:avLst>
              <a:gd name="adj" fmla="val 42499"/>
            </a:avLst>
          </a:prstGeom>
          <a:solidFill>
            <a:srgbClr val="1E22B4"/>
          </a:solidFill>
          <a:ln/>
        </p:spPr>
      </p:sp>
      <p:sp>
        <p:nvSpPr>
          <p:cNvPr id="8" name="Shape 6"/>
          <p:cNvSpPr/>
          <p:nvPr/>
        </p:nvSpPr>
        <p:spPr>
          <a:xfrm>
            <a:off x="8254793" y="3517900"/>
            <a:ext cx="507987" cy="76200"/>
          </a:xfrm>
          <a:prstGeom prst="roundRect">
            <a:avLst>
              <a:gd name="adj" fmla="val 42499"/>
            </a:avLst>
          </a:prstGeom>
          <a:solidFill>
            <a:srgbClr val="1E22B4"/>
          </a:solidFill>
          <a:ln/>
        </p:spPr>
      </p:sp>
      <p:sp>
        <p:nvSpPr>
          <p:cNvPr id="9" name="Shape 7"/>
          <p:cNvSpPr/>
          <p:nvPr/>
        </p:nvSpPr>
        <p:spPr>
          <a:xfrm>
            <a:off x="5308467" y="508000"/>
            <a:ext cx="4825879" cy="1625600"/>
          </a:xfrm>
          <a:prstGeom prst="roundRect">
            <a:avLst>
              <a:gd name="adj" fmla="val 1992"/>
            </a:avLst>
          </a:prstGeom>
          <a:solidFill>
            <a:srgbClr val="1E22B4"/>
          </a:solidFill>
          <a:ln/>
        </p:spPr>
      </p:sp>
      <p:sp>
        <p:nvSpPr>
          <p:cNvPr id="10" name="Shape 8"/>
          <p:cNvSpPr/>
          <p:nvPr/>
        </p:nvSpPr>
        <p:spPr>
          <a:xfrm>
            <a:off x="5206870" y="406400"/>
            <a:ext cx="4825879" cy="1625600"/>
          </a:xfrm>
          <a:prstGeom prst="roundRect">
            <a:avLst>
              <a:gd name="adj" fmla="val 1992"/>
            </a:avLst>
          </a:prstGeom>
          <a:solidFill>
            <a:srgbClr val="22EFFC"/>
          </a:solidFill>
          <a:ln w="38099">
            <a:solidFill>
              <a:srgbClr val="1E22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98962" y="596900"/>
            <a:ext cx="424169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1E22B4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Pattern detection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98962" y="1038225"/>
            <a:ext cx="4241694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1E22B4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Indian identifiers plus email, phone, cards, bank details, OTPs, passwords, API keys, and IP addresses.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550161" y="114300"/>
            <a:ext cx="584185" cy="584200"/>
          </a:xfrm>
          <a:prstGeom prst="ellipse">
            <a:avLst/>
          </a:prstGeom>
          <a:solidFill>
            <a:srgbClr val="1E22B4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4458" y="422275"/>
            <a:ext cx="355591" cy="3556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09585" y="2959100"/>
            <a:ext cx="4190895" cy="1397000"/>
          </a:xfrm>
          <a:prstGeom prst="roundRect">
            <a:avLst>
              <a:gd name="adj" fmla="val 2318"/>
            </a:avLst>
          </a:prstGeom>
          <a:solidFill>
            <a:srgbClr val="1E22B4"/>
          </a:solidFill>
          <a:ln/>
        </p:spPr>
      </p:sp>
      <p:sp>
        <p:nvSpPr>
          <p:cNvPr id="16" name="Shape 13"/>
          <p:cNvSpPr/>
          <p:nvPr/>
        </p:nvSpPr>
        <p:spPr>
          <a:xfrm>
            <a:off x="507987" y="2857500"/>
            <a:ext cx="4190895" cy="1397000"/>
          </a:xfrm>
          <a:prstGeom prst="roundRect">
            <a:avLst>
              <a:gd name="adj" fmla="val 2318"/>
            </a:avLst>
          </a:prstGeom>
          <a:solidFill>
            <a:srgbClr val="22EFFC"/>
          </a:solidFill>
          <a:ln w="38099">
            <a:solidFill>
              <a:srgbClr val="1E22B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4681" y="3048000"/>
            <a:ext cx="365750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1E22B4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Defense in depth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774681" y="3489325"/>
            <a:ext cx="3657509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1E22B4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Multiple signals reduce missed detections and false positives.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3936902" y="2565400"/>
            <a:ext cx="584185" cy="584200"/>
          </a:xfrm>
          <a:prstGeom prst="ellipse">
            <a:avLst/>
          </a:prstGeom>
          <a:solidFill>
            <a:srgbClr val="1E22B4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1199" y="2873375"/>
            <a:ext cx="355591" cy="35560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8864378" y="2705100"/>
            <a:ext cx="2920927" cy="1930400"/>
          </a:xfrm>
          <a:prstGeom prst="roundRect">
            <a:avLst>
              <a:gd name="adj" fmla="val 1678"/>
            </a:avLst>
          </a:prstGeom>
          <a:solidFill>
            <a:srgbClr val="1E22B4"/>
          </a:solidFill>
          <a:ln/>
        </p:spPr>
      </p:sp>
      <p:sp>
        <p:nvSpPr>
          <p:cNvPr id="22" name="Shape 18"/>
          <p:cNvSpPr/>
          <p:nvPr/>
        </p:nvSpPr>
        <p:spPr>
          <a:xfrm>
            <a:off x="8762781" y="2603500"/>
            <a:ext cx="2920927" cy="1930400"/>
          </a:xfrm>
          <a:prstGeom prst="roundRect">
            <a:avLst>
              <a:gd name="adj" fmla="val 1678"/>
            </a:avLst>
          </a:prstGeom>
          <a:solidFill>
            <a:srgbClr val="22EFFC"/>
          </a:solidFill>
          <a:ln w="38099">
            <a:solidFill>
              <a:srgbClr val="1E22B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004075" y="2819400"/>
            <a:ext cx="243833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1E22B4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Structural analysis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9004075" y="3260725"/>
            <a:ext cx="2438339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1E22B4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DOM elements, accessibility trees, metadata, and interface representations.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10947126" y="2311400"/>
            <a:ext cx="584185" cy="584200"/>
          </a:xfrm>
          <a:prstGeom prst="ellipse">
            <a:avLst/>
          </a:prstGeom>
          <a:solidFill>
            <a:srgbClr val="1E22B4"/>
          </a:solidFill>
          <a:ln/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1423" y="2619375"/>
            <a:ext cx="355591" cy="35560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4800480" y="5118100"/>
            <a:ext cx="5587860" cy="1422400"/>
          </a:xfrm>
          <a:prstGeom prst="roundRect">
            <a:avLst>
              <a:gd name="adj" fmla="val 2277"/>
            </a:avLst>
          </a:prstGeom>
          <a:solidFill>
            <a:srgbClr val="1E22B4"/>
          </a:solidFill>
          <a:ln/>
        </p:spPr>
      </p:sp>
      <p:sp>
        <p:nvSpPr>
          <p:cNvPr id="28" name="Shape 23"/>
          <p:cNvSpPr/>
          <p:nvPr/>
        </p:nvSpPr>
        <p:spPr>
          <a:xfrm>
            <a:off x="4698882" y="5016500"/>
            <a:ext cx="5587860" cy="1422400"/>
          </a:xfrm>
          <a:prstGeom prst="roundRect">
            <a:avLst>
              <a:gd name="adj" fmla="val 2277"/>
            </a:avLst>
          </a:prstGeom>
          <a:solidFill>
            <a:srgbClr val="22EFFC"/>
          </a:solidFill>
          <a:ln w="38099">
            <a:solidFill>
              <a:srgbClr val="1E22B4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4990975" y="5207000"/>
            <a:ext cx="500367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1E22B4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Optional OCR and AI-based context</a:t>
            </a:r>
            <a:endParaRPr lang="en-US" sz="1800" dirty="0"/>
          </a:p>
        </p:txBody>
      </p:sp>
      <p:sp>
        <p:nvSpPr>
          <p:cNvPr id="30" name="Text 25"/>
          <p:cNvSpPr/>
          <p:nvPr/>
        </p:nvSpPr>
        <p:spPr>
          <a:xfrm>
            <a:off x="4990975" y="5648325"/>
            <a:ext cx="5003675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1E22B4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Screenshots, faces, and named entities when local dependencies are available.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9550161" y="4724400"/>
            <a:ext cx="584185" cy="584200"/>
          </a:xfrm>
          <a:prstGeom prst="ellipse">
            <a:avLst/>
          </a:prstGeom>
          <a:solidFill>
            <a:srgbClr val="1E22B4"/>
          </a:solidFill>
          <a:ln/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4458" y="5032375"/>
            <a:ext cx="355591" cy="355600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6286343" y="2730500"/>
            <a:ext cx="1650959" cy="1651000"/>
          </a:xfrm>
          <a:prstGeom prst="ellipse">
            <a:avLst/>
          </a:prstGeom>
          <a:solidFill>
            <a:srgbClr val="1E22B4"/>
          </a:solidFill>
          <a:ln/>
        </p:spPr>
      </p:sp>
      <p:sp>
        <p:nvSpPr>
          <p:cNvPr id="34" name="Text 28"/>
          <p:cNvSpPr/>
          <p:nvPr/>
        </p:nvSpPr>
        <p:spPr>
          <a:xfrm>
            <a:off x="6387940" y="3276600"/>
            <a:ext cx="144776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LOCAL INSPECTION</a:t>
            </a:r>
            <a:endParaRPr lang="en-US" sz="180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987" y="4826000"/>
            <a:ext cx="3682908" cy="1752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684530"/>
            <a:ext cx="11480513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00" kern="100" spc="84" dirty="0">
                <a:solidFill>
                  <a:srgbClr val="1E22B4"/>
                </a:solidFill>
                <a:latin typeface="Anton" pitchFamily="34" charset="0"/>
                <a:ea typeface="Anton" pitchFamily="34" charset="-122"/>
                <a:cs typeface="Anton" pitchFamily="34" charset="0"/>
              </a:rPr>
              <a:t>THE TRANSFORMATION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60383" y="1050588"/>
            <a:ext cx="10870928" cy="554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600" dirty="0">
                <a:solidFill>
                  <a:srgbClr val="1E22B4"/>
                </a:solidFill>
                <a:latin typeface="Anton" pitchFamily="34" charset="0"/>
                <a:ea typeface="Anton" pitchFamily="34" charset="-122"/>
                <a:cs typeface="Anton" pitchFamily="34" charset="0"/>
              </a:rPr>
              <a:t>SANITIZATION PRESERVES MEANING, NOT SECRETS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660383" y="1764903"/>
            <a:ext cx="10870829" cy="69751"/>
          </a:xfrm>
          <a:prstGeom prst="roundRect">
            <a:avLst>
              <a:gd name="adj" fmla="val 49999"/>
            </a:avLst>
          </a:prstGeom>
          <a:solidFill>
            <a:srgbClr val="1E22B4"/>
          </a:solidFill>
          <a:ln/>
        </p:spPr>
      </p:sp>
      <p:sp>
        <p:nvSpPr>
          <p:cNvPr id="5" name="Text 3"/>
          <p:cNvSpPr/>
          <p:nvPr/>
        </p:nvSpPr>
        <p:spPr>
          <a:xfrm>
            <a:off x="660383" y="2080816"/>
            <a:ext cx="5283068" cy="793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200" dirty="0">
                <a:solidFill>
                  <a:srgbClr val="1E22B4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The result is useful context without the original secret.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60383" y="3001169"/>
            <a:ext cx="5283068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1E22B4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Raw Context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60383" y="3001169"/>
            <a:ext cx="5283068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1E22B4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Typed Redaction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60383" y="3001169"/>
            <a:ext cx="5283068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1E22B4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Meaning Preserved</a:t>
            </a:r>
            <a:endParaRPr lang="en-US" sz="17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83" y="3001169"/>
            <a:ext cx="5283068" cy="2159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48244" y="2080816"/>
            <a:ext cx="792440" cy="1116211"/>
          </a:xfrm>
          <a:prstGeom prst="rect">
            <a:avLst/>
          </a:prstGeom>
          <a:solidFill>
            <a:srgbClr val="1E22B4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4546" y="2369046"/>
            <a:ext cx="539736" cy="53975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040684" y="2080816"/>
            <a:ext cx="4490628" cy="1116211"/>
          </a:xfrm>
          <a:prstGeom prst="roundRect">
            <a:avLst>
              <a:gd name="adj" fmla="val 2901"/>
            </a:avLst>
          </a:prstGeom>
          <a:noFill/>
          <a:ln w="25399">
            <a:solidFill>
              <a:srgbClr val="373BC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243879" y="2233216"/>
            <a:ext cx="4084238" cy="811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1E22B4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Replace sensitive text with typed placeholders such as </a:t>
            </a:r>
            <a:r>
              <a:rPr lang="en-US" sz="1500" b="1" dirty="0">
                <a:solidFill>
                  <a:srgbClr val="1E22B4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[REDACTED:CARD]</a:t>
            </a:r>
            <a:r>
              <a:rPr lang="en-US" sz="1500" dirty="0">
                <a:solidFill>
                  <a:srgbClr val="1E22B4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 and </a:t>
            </a:r>
            <a:r>
              <a:rPr lang="en-US" sz="1500" b="1" dirty="0">
                <a:solidFill>
                  <a:srgbClr val="1E22B4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[REDACTED:PASSWORD]</a:t>
            </a:r>
            <a:r>
              <a:rPr lang="en-US" sz="1500" dirty="0">
                <a:solidFill>
                  <a:srgbClr val="1E22B4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512357" y="3349427"/>
            <a:ext cx="792440" cy="845741"/>
          </a:xfrm>
          <a:prstGeom prst="rect">
            <a:avLst/>
          </a:prstGeom>
          <a:solidFill>
            <a:srgbClr val="1E22B4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660" y="3502422"/>
            <a:ext cx="539736" cy="53975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304798" y="3349427"/>
            <a:ext cx="4226514" cy="845741"/>
          </a:xfrm>
          <a:prstGeom prst="roundRect">
            <a:avLst>
              <a:gd name="adj" fmla="val 3829"/>
            </a:avLst>
          </a:prstGeom>
          <a:noFill/>
          <a:ln w="25399">
            <a:solidFill>
              <a:srgbClr val="373BCD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507993" y="3501827"/>
            <a:ext cx="3820124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1E22B4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Keep the interface structure and task context needed for reasoning.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6776471" y="4347567"/>
            <a:ext cx="792440" cy="1116211"/>
          </a:xfrm>
          <a:prstGeom prst="rect">
            <a:avLst/>
          </a:prstGeom>
          <a:solidFill>
            <a:srgbClr val="1E22B4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2773" y="4635798"/>
            <a:ext cx="539736" cy="53975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7568911" y="4347567"/>
            <a:ext cx="3962400" cy="1116211"/>
          </a:xfrm>
          <a:prstGeom prst="roundRect">
            <a:avLst>
              <a:gd name="adj" fmla="val 2901"/>
            </a:avLst>
          </a:prstGeom>
          <a:noFill/>
          <a:ln w="25399">
            <a:solidFill>
              <a:srgbClr val="373BCD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772106" y="4499967"/>
            <a:ext cx="3556010" cy="811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1E22B4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Make original values non-recoverable from the external payload.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7040684" y="5616178"/>
            <a:ext cx="792440" cy="845741"/>
          </a:xfrm>
          <a:prstGeom prst="rect">
            <a:avLst/>
          </a:prstGeom>
          <a:solidFill>
            <a:srgbClr val="1E22B4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6986" y="5769173"/>
            <a:ext cx="539736" cy="53975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7833124" y="5616178"/>
            <a:ext cx="3698187" cy="845741"/>
          </a:xfrm>
          <a:prstGeom prst="roundRect">
            <a:avLst>
              <a:gd name="adj" fmla="val 3829"/>
            </a:avLst>
          </a:prstGeom>
          <a:noFill/>
          <a:ln w="25399">
            <a:solidFill>
              <a:srgbClr val="373BCD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8036319" y="5768578"/>
            <a:ext cx="3291797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1E22B4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Show a privacy preview before any model-facing request.</a:t>
            </a:r>
            <a:endParaRPr lang="en-US" sz="15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876C688-3DC9-6A86-D8C7-AA1C831D3CF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660381" y="2993479"/>
            <a:ext cx="5283067" cy="2174379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70925C6F-D164-F505-CE1C-E3A0E32B9EB1}"/>
              </a:ext>
            </a:extLst>
          </p:cNvPr>
          <p:cNvSpPr txBox="1"/>
          <p:nvPr/>
        </p:nvSpPr>
        <p:spPr>
          <a:xfrm>
            <a:off x="723581" y="3562571"/>
            <a:ext cx="52830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Berlin Sans FB Demi" panose="020E0802020502020306" pitchFamily="34" charset="0"/>
              </a:rPr>
              <a:t>README FILE</a:t>
            </a:r>
          </a:p>
          <a:p>
            <a:r>
              <a:rPr lang="en-IN" dirty="0">
                <a:latin typeface="Franklin Gothic Book" panose="020B0503020102020204" pitchFamily="34" charset="0"/>
              </a:rPr>
              <a:t>https://drive.google.com/file/d/1n2GtFY-Bp0blQ7-_Xi-zyueStrRHG8r5/view?usp=drive_link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54330"/>
            <a:ext cx="11582110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00" kern="100" spc="84" dirty="0">
                <a:solidFill>
                  <a:srgbClr val="1E22B4"/>
                </a:solidFill>
                <a:latin typeface="Anton" pitchFamily="34" charset="0"/>
                <a:ea typeface="Anton" pitchFamily="34" charset="-122"/>
                <a:cs typeface="Anton" pitchFamily="34" charset="0"/>
              </a:rPr>
              <a:t>ONE-CLICK PROTECTION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9585" y="701655"/>
            <a:ext cx="10972526" cy="458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800" dirty="0">
                <a:solidFill>
                  <a:srgbClr val="1E22B4"/>
                </a:solidFill>
                <a:latin typeface="Anton" pitchFamily="34" charset="0"/>
                <a:ea typeface="Anton" pitchFamily="34" charset="-122"/>
                <a:cs typeface="Anton" pitchFamily="34" charset="0"/>
              </a:rPr>
              <a:t>THE BROWSER EXTENSION MAKES PROTECTION ONE CLICK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09585" y="1905000"/>
            <a:ext cx="10972526" cy="50800"/>
          </a:xfrm>
          <a:prstGeom prst="roundRect">
            <a:avLst>
              <a:gd name="adj" fmla="val 49999"/>
            </a:avLst>
          </a:prstGeom>
          <a:solidFill>
            <a:srgbClr val="1E22B4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2095500"/>
            <a:ext cx="3428914" cy="1778000"/>
          </a:xfrm>
          <a:prstGeom prst="rect">
            <a:avLst/>
          </a:prstGeom>
          <a:solidFill>
            <a:srgbClr val="1E22B4"/>
          </a:solidFill>
          <a:ln/>
        </p:spPr>
      </p:sp>
      <p:sp>
        <p:nvSpPr>
          <p:cNvPr id="6" name="Text 4"/>
          <p:cNvSpPr/>
          <p:nvPr/>
        </p:nvSpPr>
        <p:spPr>
          <a:xfrm>
            <a:off x="812780" y="2336602"/>
            <a:ext cx="828158" cy="661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200" dirty="0">
                <a:solidFill>
                  <a:srgbClr val="22EFFC"/>
                </a:solidFill>
                <a:latin typeface="Anton" pitchFamily="34" charset="0"/>
                <a:ea typeface="Anton" pitchFamily="34" charset="-122"/>
                <a:cs typeface="Anton" pitchFamily="34" charset="0"/>
              </a:rPr>
              <a:t>1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1681716" y="2308324"/>
            <a:ext cx="2153588" cy="1352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Run the local server, load the Manifest V3 extension, and pin PrivacyLens Local Guard.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038499" y="2959100"/>
            <a:ext cx="406390" cy="63500"/>
          </a:xfrm>
          <a:prstGeom prst="roundRect">
            <a:avLst>
              <a:gd name="adj" fmla="val 49999"/>
            </a:avLst>
          </a:prstGeom>
          <a:solidFill>
            <a:srgbClr val="1E22B4"/>
          </a:solidFill>
          <a:ln/>
        </p:spPr>
      </p:sp>
      <p:sp>
        <p:nvSpPr>
          <p:cNvPr id="9" name="Shape 7"/>
          <p:cNvSpPr/>
          <p:nvPr/>
        </p:nvSpPr>
        <p:spPr>
          <a:xfrm>
            <a:off x="4444889" y="2095500"/>
            <a:ext cx="2920927" cy="1778000"/>
          </a:xfrm>
          <a:prstGeom prst="rect">
            <a:avLst/>
          </a:prstGeom>
          <a:noFill/>
          <a:ln w="50799">
            <a:solidFill>
              <a:srgbClr val="1E22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8882" y="2399804"/>
            <a:ext cx="936304" cy="661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200" dirty="0">
                <a:solidFill>
                  <a:srgbClr val="1E22B4"/>
                </a:solidFill>
                <a:latin typeface="Anton" pitchFamily="34" charset="0"/>
                <a:ea typeface="Anton" pitchFamily="34" charset="-122"/>
                <a:cs typeface="Anton" pitchFamily="34" charset="0"/>
              </a:rPr>
              <a:t>2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5567819" y="2371527"/>
            <a:ext cx="1544004" cy="1225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1E22B4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On any webpage, choose </a:t>
            </a:r>
            <a:r>
              <a:rPr lang="en-US" sz="1700" b="1" dirty="0">
                <a:solidFill>
                  <a:srgbClr val="1E22B4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Scan active page</a:t>
            </a:r>
            <a:r>
              <a:rPr lang="en-US" sz="1700" dirty="0">
                <a:solidFill>
                  <a:srgbClr val="1E22B4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65816" y="2959100"/>
            <a:ext cx="406390" cy="63500"/>
          </a:xfrm>
          <a:prstGeom prst="roundRect">
            <a:avLst>
              <a:gd name="adj" fmla="val 49999"/>
            </a:avLst>
          </a:prstGeom>
          <a:solidFill>
            <a:srgbClr val="1E22B4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206" y="2095500"/>
            <a:ext cx="3809905" cy="1778000"/>
          </a:xfrm>
          <a:prstGeom prst="rect">
            <a:avLst/>
          </a:prstGeom>
          <a:noFill/>
          <a:ln w="50799">
            <a:solidFill>
              <a:srgbClr val="1E22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26199" y="2471837"/>
            <a:ext cx="936304" cy="661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200" dirty="0">
                <a:solidFill>
                  <a:srgbClr val="1E22B4"/>
                </a:solidFill>
                <a:latin typeface="Anton" pitchFamily="34" charset="0"/>
                <a:ea typeface="Anton" pitchFamily="34" charset="-122"/>
                <a:cs typeface="Anton" pitchFamily="34" charset="0"/>
              </a:rPr>
              <a:t>3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8895135" y="2443559"/>
            <a:ext cx="2432981" cy="1081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1E22B4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Review detected patterns, sanitized context, and the action-safety decision.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879953" y="3873500"/>
            <a:ext cx="63498" cy="508000"/>
          </a:xfrm>
          <a:prstGeom prst="roundRect">
            <a:avLst>
              <a:gd name="adj" fmla="val 50000"/>
            </a:avLst>
          </a:prstGeom>
          <a:solidFill>
            <a:srgbClr val="1E22B4"/>
          </a:solidFill>
          <a:ln/>
        </p:spPr>
      </p:sp>
      <p:sp>
        <p:nvSpPr>
          <p:cNvPr id="17" name="Shape 15"/>
          <p:cNvSpPr/>
          <p:nvPr/>
        </p:nvSpPr>
        <p:spPr>
          <a:xfrm>
            <a:off x="5344229" y="4341713"/>
            <a:ext cx="6832429" cy="1714500"/>
          </a:xfrm>
          <a:prstGeom prst="rect">
            <a:avLst/>
          </a:prstGeom>
          <a:solidFill>
            <a:srgbClr val="1E22B4"/>
          </a:solidFill>
          <a:ln/>
        </p:spPr>
      </p:sp>
      <p:sp>
        <p:nvSpPr>
          <p:cNvPr id="18" name="Text 16"/>
          <p:cNvSpPr/>
          <p:nvPr/>
        </p:nvSpPr>
        <p:spPr>
          <a:xfrm>
            <a:off x="5485498" y="4916587"/>
            <a:ext cx="936304" cy="661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200" dirty="0">
                <a:solidFill>
                  <a:srgbClr val="22EFFC"/>
                </a:solidFill>
                <a:latin typeface="Anton" pitchFamily="34" charset="0"/>
                <a:ea typeface="Anton" pitchFamily="34" charset="-122"/>
                <a:cs typeface="Anton" pitchFamily="34" charset="0"/>
              </a:rPr>
              <a:t>4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6133152" y="4528740"/>
            <a:ext cx="5658701" cy="1082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Page text stays on the local server at </a:t>
            </a:r>
            <a:r>
              <a:rPr lang="en-US" sz="2000" b="1" dirty="0">
                <a:solidFill>
                  <a:srgbClr val="FFFFFF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127.0.0.1:8765</a:t>
            </a:r>
            <a:r>
              <a:rPr lang="en-US" sz="2000" dirty="0">
                <a:solidFill>
                  <a:srgbClr val="FFFFFF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; there is no cloud model dependency.</a:t>
            </a:r>
            <a:endParaRPr lang="en-US" sz="20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95A7D6F-A57D-4253-2899-6253E5452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25" y="4326992"/>
            <a:ext cx="5293604" cy="23077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283068" cy="6858000"/>
          </a:xfrm>
          <a:prstGeom prst="rect">
            <a:avLst/>
          </a:prstGeom>
          <a:solidFill>
            <a:srgbClr val="1E22B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283068" cy="680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65656" y="498396"/>
            <a:ext cx="6426039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00" kern="100" spc="84" dirty="0">
                <a:solidFill>
                  <a:srgbClr val="1E22B4"/>
                </a:solidFill>
                <a:latin typeface="Anton" pitchFamily="34" charset="0"/>
                <a:ea typeface="Anton" pitchFamily="34" charset="-122"/>
                <a:cs typeface="Anton" pitchFamily="34" charset="0"/>
              </a:rPr>
              <a:t>ACTION SAFETY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765656" y="833973"/>
            <a:ext cx="5943451" cy="820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400" dirty="0">
                <a:solidFill>
                  <a:srgbClr val="1E22B4"/>
                </a:solidFill>
                <a:latin typeface="Anton" pitchFamily="34" charset="0"/>
                <a:ea typeface="Anton" pitchFamily="34" charset="-122"/>
                <a:cs typeface="Anton" pitchFamily="34" charset="0"/>
              </a:rPr>
              <a:t>ACTION SAFETY STOPS UNSAFE AUTOMATION AT THE EDGE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5656" y="1791791"/>
          <a:ext cx="5943451" cy="4591728"/>
        </p:xfrm>
        <a:graphic>
          <a:graphicData uri="http://schemas.openxmlformats.org/drawingml/2006/table">
            <a:tbl>
              <a:tblPr/>
              <a:tblGrid>
                <a:gridCol w="1426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17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047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1E22B4"/>
                          </a:solidFill>
                          <a:latin typeface="Special Elite" pitchFamily="34" charset="0"/>
                          <a:ea typeface="Special Elite" pitchFamily="34" charset="-122"/>
                          <a:cs typeface="Special Elite" pitchFamily="34" charset="0"/>
                        </a:rPr>
                        <a:t>Allowlist</a:t>
                      </a:r>
                      <a:endParaRPr lang="en-US" sz="1700" dirty="0">
                        <a:latin typeface="Special Elite" charset="0"/>
                        <a:ea typeface="Special Elite" charset="0"/>
                        <a:cs typeface="Special Elite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22E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E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E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E22B4"/>
                          </a:solidFill>
                          <a:latin typeface="Special Elite" pitchFamily="34" charset="0"/>
                          <a:ea typeface="Special Elite" pitchFamily="34" charset="-122"/>
                          <a:cs typeface="Special Elite" pitchFamily="34" charset="0"/>
                        </a:rPr>
                        <a:t>Allowlist valid actions and reject invalid targets or unsafe operations.</a:t>
                      </a:r>
                      <a:endParaRPr lang="en-US" sz="1700" dirty="0">
                        <a:latin typeface="Special Elite" charset="0"/>
                        <a:ea typeface="Special Elite" charset="0"/>
                        <a:cs typeface="Special Elite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22E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E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E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829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1E22B4"/>
                          </a:solidFill>
                          <a:latin typeface="Special Elite" pitchFamily="34" charset="0"/>
                          <a:ea typeface="Special Elite" pitchFamily="34" charset="-122"/>
                          <a:cs typeface="Special Elite" pitchFamily="34" charset="0"/>
                        </a:rPr>
                        <a:t>Block</a:t>
                      </a:r>
                      <a:endParaRPr lang="en-US" sz="1700" dirty="0">
                        <a:latin typeface="Special Elite" charset="0"/>
                        <a:ea typeface="Special Elite" charset="0"/>
                        <a:cs typeface="Special Elite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22E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E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E22B4"/>
                          </a:solidFill>
                          <a:latin typeface="Special Elite" pitchFamily="34" charset="0"/>
                          <a:ea typeface="Special Elite" pitchFamily="34" charset="-122"/>
                          <a:cs typeface="Special Elite" pitchFamily="34" charset="0"/>
                        </a:rPr>
                        <a:t>Block prompt injection and secret-bearing values before execution.</a:t>
                      </a:r>
                      <a:endParaRPr lang="en-US" sz="1700" dirty="0">
                        <a:latin typeface="Special Elite" charset="0"/>
                        <a:ea typeface="Special Elite" charset="0"/>
                        <a:cs typeface="Special Elite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22E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E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829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1E22B4"/>
                          </a:solidFill>
                          <a:latin typeface="Special Elite" pitchFamily="34" charset="0"/>
                          <a:ea typeface="Special Elite" pitchFamily="34" charset="-122"/>
                          <a:cs typeface="Special Elite" pitchFamily="34" charset="0"/>
                        </a:rPr>
                        <a:t>Approve</a:t>
                      </a:r>
                      <a:endParaRPr lang="en-US" sz="1700" dirty="0">
                        <a:latin typeface="Special Elite" charset="0"/>
                        <a:ea typeface="Special Elite" charset="0"/>
                        <a:cs typeface="Special Elite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22E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E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E22B4"/>
                          </a:solidFill>
                          <a:latin typeface="Special Elite" pitchFamily="34" charset="0"/>
                          <a:ea typeface="Special Elite" pitchFamily="34" charset="-122"/>
                          <a:cs typeface="Special Elite" pitchFamily="34" charset="0"/>
                        </a:rPr>
                        <a:t>Require human approval for payment and destructive actions.</a:t>
                      </a:r>
                      <a:endParaRPr lang="en-US" sz="1700" dirty="0">
                        <a:latin typeface="Special Elite" charset="0"/>
                        <a:ea typeface="Special Elite" charset="0"/>
                        <a:cs typeface="Special Elite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22E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E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47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1E22B4"/>
                          </a:solidFill>
                          <a:latin typeface="Special Elite" pitchFamily="34" charset="0"/>
                          <a:ea typeface="Special Elite" pitchFamily="34" charset="-122"/>
                          <a:cs typeface="Special Elite" pitchFamily="34" charset="0"/>
                        </a:rPr>
                        <a:t>Scan again</a:t>
                      </a:r>
                      <a:endParaRPr lang="en-US" sz="1700" dirty="0">
                        <a:latin typeface="Special Elite" charset="0"/>
                        <a:ea typeface="Special Elite" charset="0"/>
                        <a:cs typeface="Special Elite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22E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E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E22B4"/>
                          </a:solidFill>
                          <a:latin typeface="Special Elite" pitchFamily="34" charset="0"/>
                          <a:ea typeface="Special Elite" pitchFamily="34" charset="-122"/>
                          <a:cs typeface="Special Elite" pitchFamily="34" charset="0"/>
                        </a:rPr>
                        <a:t>Scan outgoing payloads again; block any request that still contains raw sensitive data.</a:t>
                      </a:r>
                      <a:endParaRPr lang="en-US" sz="1700" dirty="0">
                        <a:latin typeface="Special Elite" charset="0"/>
                        <a:ea typeface="Special Elite" charset="0"/>
                        <a:cs typeface="Special Elite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22E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E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559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1E22B4"/>
                          </a:solidFill>
                          <a:latin typeface="Special Elite" pitchFamily="34" charset="0"/>
                          <a:ea typeface="Special Elite" pitchFamily="34" charset="-122"/>
                          <a:cs typeface="Special Elite" pitchFamily="34" charset="0"/>
                        </a:rPr>
                        <a:t>Fail closed</a:t>
                      </a:r>
                      <a:endParaRPr lang="en-US" sz="1700" dirty="0">
                        <a:latin typeface="Special Elite" charset="0"/>
                        <a:ea typeface="Special Elite" charset="0"/>
                        <a:cs typeface="Special Elite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22E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E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E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E22B4"/>
                          </a:solidFill>
                          <a:latin typeface="Special Elite" pitchFamily="34" charset="0"/>
                          <a:ea typeface="Special Elite" pitchFamily="34" charset="-122"/>
                          <a:cs typeface="Special Elite" pitchFamily="34" charset="0"/>
                        </a:rPr>
                        <a:t>Keep logs free of secrets and bind locally with fail-closed behavior.</a:t>
                      </a:r>
                      <a:endParaRPr lang="en-US" sz="1700" dirty="0">
                        <a:latin typeface="Special Elite" charset="0"/>
                        <a:ea typeface="Special Elite" charset="0"/>
                        <a:cs typeface="Special Elite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22E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E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E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684530"/>
            <a:ext cx="3759106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00" kern="100" spc="84" dirty="0">
                <a:solidFill>
                  <a:srgbClr val="1E22B4"/>
                </a:solidFill>
                <a:latin typeface="Anton" pitchFamily="34" charset="0"/>
                <a:ea typeface="Anton" pitchFamily="34" charset="-122"/>
                <a:cs typeface="Anton" pitchFamily="34" charset="0"/>
              </a:rPr>
              <a:t>THE PROOF PLAN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60383" y="1043603"/>
            <a:ext cx="3149521" cy="1520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200" dirty="0">
                <a:solidFill>
                  <a:srgbClr val="1E22B4"/>
                </a:solidFill>
                <a:latin typeface="Anton" pitchFamily="34" charset="0"/>
                <a:ea typeface="Anton" pitchFamily="34" charset="-122"/>
                <a:cs typeface="Anton" pitchFamily="34" charset="0"/>
              </a:rPr>
              <a:t>FROM DEMO TO MEASURABLE PRIVACY PROOF</a:t>
            </a:r>
            <a:endParaRPr lang="en-US" sz="4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83" y="2461816"/>
            <a:ext cx="3149521" cy="37357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470288" y="0"/>
            <a:ext cx="3860703" cy="3429000"/>
          </a:xfrm>
          <a:prstGeom prst="rect">
            <a:avLst/>
          </a:prstGeom>
          <a:solidFill>
            <a:srgbClr val="1E22B4"/>
          </a:solidFill>
          <a:ln/>
        </p:spPr>
      </p:sp>
      <p:sp>
        <p:nvSpPr>
          <p:cNvPr id="6" name="Shape 3"/>
          <p:cNvSpPr/>
          <p:nvPr/>
        </p:nvSpPr>
        <p:spPr>
          <a:xfrm>
            <a:off x="4673483" y="50800"/>
            <a:ext cx="3454314" cy="863600"/>
          </a:xfrm>
          <a:prstGeom prst="rect">
            <a:avLst/>
          </a:prstGeom>
          <a:solidFill>
            <a:srgbClr val="373BCD"/>
          </a:solidFill>
          <a:ln/>
        </p:spPr>
      </p:sp>
      <p:sp>
        <p:nvSpPr>
          <p:cNvPr id="7" name="Text 4"/>
          <p:cNvSpPr/>
          <p:nvPr/>
        </p:nvSpPr>
        <p:spPr>
          <a:xfrm>
            <a:off x="4889378" y="390823"/>
            <a:ext cx="714159" cy="183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1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673483" y="1153914"/>
            <a:ext cx="3454314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Demo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673483" y="1712714"/>
            <a:ext cx="863578" cy="38100"/>
          </a:xfrm>
          <a:prstGeom prst="roundRect">
            <a:avLst>
              <a:gd name="adj" fmla="val 49999"/>
            </a:avLst>
          </a:prstGeom>
          <a:solidFill>
            <a:srgbClr val="1E22B4"/>
          </a:solidFill>
          <a:ln/>
        </p:spPr>
      </p:sp>
      <p:sp>
        <p:nvSpPr>
          <p:cNvPr id="10" name="Text 7"/>
          <p:cNvSpPr/>
          <p:nvPr/>
        </p:nvSpPr>
        <p:spPr>
          <a:xfrm>
            <a:off x="4673483" y="1998464"/>
            <a:ext cx="3454314" cy="1225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Checkout card, email, OTP, and IP detection; typed redaction; safe validation; raw password blocked.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330992" y="0"/>
            <a:ext cx="3860703" cy="3429000"/>
          </a:xfrm>
          <a:prstGeom prst="rect">
            <a:avLst/>
          </a:prstGeom>
          <a:noFill/>
          <a:ln w="25399">
            <a:solidFill>
              <a:srgbClr val="373BC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559586" y="76200"/>
            <a:ext cx="3403515" cy="863600"/>
          </a:xfrm>
          <a:prstGeom prst="rect">
            <a:avLst/>
          </a:prstGeom>
          <a:solidFill>
            <a:srgbClr val="373BCD"/>
          </a:solidFill>
          <a:ln/>
        </p:spPr>
      </p:sp>
      <p:sp>
        <p:nvSpPr>
          <p:cNvPr id="13" name="Text 10"/>
          <p:cNvSpPr/>
          <p:nvPr/>
        </p:nvSpPr>
        <p:spPr>
          <a:xfrm>
            <a:off x="8775480" y="416223"/>
            <a:ext cx="714853" cy="183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2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559586" y="1153914"/>
            <a:ext cx="3403515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1E22B4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Test scenarios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8559586" y="1712714"/>
            <a:ext cx="850779" cy="38100"/>
          </a:xfrm>
          <a:prstGeom prst="roundRect">
            <a:avLst>
              <a:gd name="adj" fmla="val 49999"/>
            </a:avLst>
          </a:prstGeom>
          <a:solidFill>
            <a:srgbClr val="1E22B4"/>
          </a:solidFill>
          <a:ln/>
        </p:spPr>
      </p:sp>
      <p:sp>
        <p:nvSpPr>
          <p:cNvPr id="16" name="Text 13"/>
          <p:cNvSpPr/>
          <p:nvPr/>
        </p:nvSpPr>
        <p:spPr>
          <a:xfrm>
            <a:off x="8559586" y="1998464"/>
            <a:ext cx="3403515" cy="1225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1E22B4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E-commerce, authentication, customer support, video conferencing, and developer settings.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4470288" y="3429000"/>
            <a:ext cx="3860703" cy="3429000"/>
          </a:xfrm>
          <a:prstGeom prst="rect">
            <a:avLst/>
          </a:prstGeom>
          <a:noFill/>
          <a:ln w="25399">
            <a:solidFill>
              <a:srgbClr val="373BC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98882" y="3505200"/>
            <a:ext cx="3403515" cy="863600"/>
          </a:xfrm>
          <a:prstGeom prst="rect">
            <a:avLst/>
          </a:prstGeom>
          <a:solidFill>
            <a:srgbClr val="373BCD"/>
          </a:solidFill>
          <a:ln/>
        </p:spPr>
      </p:sp>
      <p:sp>
        <p:nvSpPr>
          <p:cNvPr id="19" name="Text 16"/>
          <p:cNvSpPr/>
          <p:nvPr/>
        </p:nvSpPr>
        <p:spPr>
          <a:xfrm>
            <a:off x="4914777" y="3845223"/>
            <a:ext cx="711877" cy="183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3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4698882" y="4454525"/>
            <a:ext cx="3403515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1E22B4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Measure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4698882" y="5013325"/>
            <a:ext cx="850779" cy="38100"/>
          </a:xfrm>
          <a:prstGeom prst="roundRect">
            <a:avLst>
              <a:gd name="adj" fmla="val 49999"/>
            </a:avLst>
          </a:prstGeom>
          <a:solidFill>
            <a:srgbClr val="1E22B4"/>
          </a:solidFill>
          <a:ln/>
        </p:spPr>
      </p:sp>
      <p:sp>
        <p:nvSpPr>
          <p:cNvPr id="22" name="Text 19"/>
          <p:cNvSpPr/>
          <p:nvPr/>
        </p:nvSpPr>
        <p:spPr>
          <a:xfrm>
            <a:off x="4698882" y="5299075"/>
            <a:ext cx="3403515" cy="1532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1E22B4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Detection recall, redaction precision, privacy leakage, context preservation, task success, latency, and security failures.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8330992" y="3429000"/>
            <a:ext cx="3860703" cy="3429000"/>
          </a:xfrm>
          <a:prstGeom prst="rect">
            <a:avLst/>
          </a:prstGeom>
          <a:solidFill>
            <a:srgbClr val="1E22B4"/>
          </a:solidFill>
          <a:ln/>
        </p:spPr>
      </p:sp>
      <p:sp>
        <p:nvSpPr>
          <p:cNvPr id="24" name="Shape 21"/>
          <p:cNvSpPr/>
          <p:nvPr/>
        </p:nvSpPr>
        <p:spPr>
          <a:xfrm>
            <a:off x="8534187" y="3479800"/>
            <a:ext cx="3454314" cy="863600"/>
          </a:xfrm>
          <a:prstGeom prst="rect">
            <a:avLst/>
          </a:prstGeom>
          <a:solidFill>
            <a:srgbClr val="373BCD"/>
          </a:solidFill>
          <a:ln/>
        </p:spPr>
      </p:sp>
      <p:sp>
        <p:nvSpPr>
          <p:cNvPr id="25" name="Text 22"/>
          <p:cNvSpPr/>
          <p:nvPr/>
        </p:nvSpPr>
        <p:spPr>
          <a:xfrm>
            <a:off x="8750081" y="3819823"/>
            <a:ext cx="721997" cy="183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4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8534187" y="4429621"/>
            <a:ext cx="3454314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Deliver</a:t>
            </a:r>
            <a:endParaRPr lang="en-US" sz="2200" dirty="0"/>
          </a:p>
        </p:txBody>
      </p:sp>
      <p:sp>
        <p:nvSpPr>
          <p:cNvPr id="27" name="Shape 24"/>
          <p:cNvSpPr/>
          <p:nvPr/>
        </p:nvSpPr>
        <p:spPr>
          <a:xfrm>
            <a:off x="8534187" y="4988421"/>
            <a:ext cx="863578" cy="38100"/>
          </a:xfrm>
          <a:prstGeom prst="roundRect">
            <a:avLst>
              <a:gd name="adj" fmla="val 49999"/>
            </a:avLst>
          </a:prstGeom>
          <a:solidFill>
            <a:srgbClr val="1E22B4"/>
          </a:solidFill>
          <a:ln/>
        </p:spPr>
      </p:sp>
      <p:sp>
        <p:nvSpPr>
          <p:cNvPr id="28" name="Text 25"/>
          <p:cNvSpPr/>
          <p:nvPr/>
        </p:nvSpPr>
        <p:spPr>
          <a:xfrm>
            <a:off x="8534187" y="5274171"/>
            <a:ext cx="3454314" cy="1532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pecial Elite" pitchFamily="34" charset="0"/>
                <a:ea typeface="Special Elite" pitchFamily="34" charset="-122"/>
                <a:cs typeface="Special Elite" pitchFamily="34" charset="0"/>
              </a:rPr>
              <a:t>Working demo, extension, evaluation scripts, reproducible tests, setup instructions, and a 2–3 minute video.</a:t>
            </a:r>
            <a:endParaRPr lang="en-US" sz="17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FDF53CD3-D274-EEEC-0208-AC5FA1E0C0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289" y="0"/>
            <a:ext cx="3302373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738</Words>
  <Application>Microsoft Office PowerPoint</Application>
  <PresentationFormat>Widescreen</PresentationFormat>
  <Paragraphs>98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Special Elite</vt:lpstr>
      <vt:lpstr>Arial</vt:lpstr>
      <vt:lpstr>Anton</vt:lpstr>
      <vt:lpstr>Franklin Gothic Book</vt:lpstr>
      <vt:lpstr>Berlin Sans FB Demi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Samarth Malhotra</cp:lastModifiedBy>
  <cp:revision>3</cp:revision>
  <dcterms:created xsi:type="dcterms:W3CDTF">2026-10-29T23:16:00Z</dcterms:created>
  <dcterms:modified xsi:type="dcterms:W3CDTF">2026-10-29T23:23:36Z</dcterms:modified>
</cp:coreProperties>
</file>